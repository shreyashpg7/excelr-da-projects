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6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6694BB52-9D05-4296-A44F-D694A55067F3}"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3462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spTree>
    <p:extLst>
      <p:ext uri="{BB962C8B-B14F-4D97-AF65-F5344CB8AC3E}">
        <p14:creationId xmlns:p14="http://schemas.microsoft.com/office/powerpoint/2010/main" val="235613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8396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83AE83A-E60A-4F6F-BA97-237ACC12EAE6}"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94BB52-9D05-4296-A44F-D694A55067F3}" type="slidenum">
              <a:rPr lang="en-IN" smtClean="0"/>
              <a:t>‹#›</a:t>
            </a:fld>
            <a:endParaRPr lang="en-IN"/>
          </a:p>
        </p:txBody>
      </p:sp>
    </p:spTree>
    <p:extLst>
      <p:ext uri="{BB962C8B-B14F-4D97-AF65-F5344CB8AC3E}">
        <p14:creationId xmlns:p14="http://schemas.microsoft.com/office/powerpoint/2010/main" val="2654843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83AE83A-E60A-4F6F-BA97-237ACC12EAE6}" type="datetimeFigureOut">
              <a:rPr lang="en-IN" smtClean="0"/>
              <a:t>03-11-2025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94BB52-9D05-4296-A44F-D694A55067F3}"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4472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83AE83A-E60A-4F6F-BA97-237ACC12EAE6}" type="datetimeFigureOut">
              <a:rPr lang="en-IN" smtClean="0"/>
              <a:t>03-11-2025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94BB52-9D05-4296-A44F-D694A55067F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7091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AE83A-E60A-4F6F-BA97-237ACC12EAE6}" type="datetimeFigureOut">
              <a:rPr lang="en-IN" smtClean="0"/>
              <a:t>03-11-2025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694BB52-9D05-4296-A44F-D694A55067F3}" type="slidenum">
              <a:rPr lang="en-IN" smtClean="0"/>
              <a:t>‹#›</a:t>
            </a:fld>
            <a:endParaRPr lang="en-IN"/>
          </a:p>
        </p:txBody>
      </p:sp>
    </p:spTree>
    <p:extLst>
      <p:ext uri="{BB962C8B-B14F-4D97-AF65-F5344CB8AC3E}">
        <p14:creationId xmlns:p14="http://schemas.microsoft.com/office/powerpoint/2010/main" val="4191779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AE83A-E60A-4F6F-BA97-237ACC12EAE6}"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94BB52-9D05-4296-A44F-D694A55067F3}"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3165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AE83A-E60A-4F6F-BA97-237ACC12EAE6}"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94BB52-9D05-4296-A44F-D694A55067F3}" type="slidenum">
              <a:rPr lang="en-IN" smtClean="0"/>
              <a:t>‹#›</a:t>
            </a:fld>
            <a:endParaRPr lang="en-IN"/>
          </a:p>
        </p:txBody>
      </p:sp>
    </p:spTree>
    <p:extLst>
      <p:ext uri="{BB962C8B-B14F-4D97-AF65-F5344CB8AC3E}">
        <p14:creationId xmlns:p14="http://schemas.microsoft.com/office/powerpoint/2010/main" val="1169228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AE83A-E60A-4F6F-BA97-237ACC12EAE6}" type="datetimeFigureOut">
              <a:rPr lang="en-IN" smtClean="0"/>
              <a:t>03-11-2025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94BB52-9D05-4296-A44F-D694A55067F3}" type="slidenum">
              <a:rPr lang="en-IN" smtClean="0"/>
              <a:t>‹#›</a:t>
            </a:fld>
            <a:endParaRPr lang="en-IN"/>
          </a:p>
        </p:txBody>
      </p:sp>
    </p:spTree>
    <p:extLst>
      <p:ext uri="{BB962C8B-B14F-4D97-AF65-F5344CB8AC3E}">
        <p14:creationId xmlns:p14="http://schemas.microsoft.com/office/powerpoint/2010/main" val="1503895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891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7915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spTree>
    <p:extLst>
      <p:ext uri="{BB962C8B-B14F-4D97-AF65-F5344CB8AC3E}">
        <p14:creationId xmlns:p14="http://schemas.microsoft.com/office/powerpoint/2010/main" val="14020450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5422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2269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9839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3AE83A-E60A-4F6F-BA97-237ACC12EAE6}" type="datetimeFigureOut">
              <a:rPr lang="en-IN" smtClean="0"/>
              <a:t>03-11-2025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94BB52-9D05-4296-A44F-D694A55067F3}"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6348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83AE83A-E60A-4F6F-BA97-237ACC12EAE6}" type="datetimeFigureOut">
              <a:rPr lang="en-IN" smtClean="0"/>
              <a:t>03-11-2025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694BB52-9D05-4296-A44F-D694A55067F3}" type="slidenum">
              <a:rPr lang="en-IN" smtClean="0"/>
              <a:t>‹#›</a:t>
            </a:fld>
            <a:endParaRPr lang="en-IN"/>
          </a:p>
        </p:txBody>
      </p:sp>
    </p:spTree>
    <p:extLst>
      <p:ext uri="{BB962C8B-B14F-4D97-AF65-F5344CB8AC3E}">
        <p14:creationId xmlns:p14="http://schemas.microsoft.com/office/powerpoint/2010/main" val="8066708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871132"/>
            <a:ext cx="6815669" cy="976844"/>
          </a:xfrm>
        </p:spPr>
        <p:txBody>
          <a:bodyPr/>
          <a:lstStyle/>
          <a:p>
            <a:r>
              <a:rPr lang="en-US" sz="3600" b="1" dirty="0" smtClean="0"/>
              <a:t>Bank Analytics/Loan Analytics</a:t>
            </a:r>
            <a:endParaRPr lang="en-IN" sz="3600" b="1" dirty="0"/>
          </a:p>
        </p:txBody>
      </p:sp>
      <p:sp>
        <p:nvSpPr>
          <p:cNvPr id="3" name="Subtitle 2"/>
          <p:cNvSpPr>
            <a:spLocks noGrp="1"/>
          </p:cNvSpPr>
          <p:nvPr>
            <p:ph type="subTitle" idx="1"/>
          </p:nvPr>
        </p:nvSpPr>
        <p:spPr>
          <a:xfrm>
            <a:off x="2692398" y="3528204"/>
            <a:ext cx="6815669" cy="1759788"/>
          </a:xfrm>
        </p:spPr>
        <p:txBody>
          <a:bodyPr>
            <a:normAutofit fontScale="92500" lnSpcReduction="20000"/>
          </a:bodyPr>
          <a:lstStyle/>
          <a:p>
            <a:pPr lvl="1"/>
            <a:r>
              <a:rPr lang="en-IN" dirty="0" smtClean="0"/>
              <a:t>           </a:t>
            </a:r>
            <a:r>
              <a:rPr lang="en-IN" dirty="0" smtClean="0"/>
              <a:t>                                       </a:t>
            </a:r>
            <a:r>
              <a:rPr lang="en-IN" b="1" dirty="0" smtClean="0">
                <a:solidFill>
                  <a:schemeClr val="tx1"/>
                </a:solidFill>
              </a:rPr>
              <a:t>Group : 6                                                 </a:t>
            </a:r>
          </a:p>
          <a:p>
            <a:pPr lvl="1"/>
            <a:r>
              <a:rPr lang="en-IN" b="1" dirty="0" smtClean="0">
                <a:solidFill>
                  <a:schemeClr val="tx1"/>
                </a:solidFill>
              </a:rPr>
              <a:t>                                                                 </a:t>
            </a:r>
            <a:r>
              <a:rPr lang="en-IN" sz="1900" b="1" dirty="0" smtClean="0">
                <a:solidFill>
                  <a:schemeClr val="tx1"/>
                </a:solidFill>
              </a:rPr>
              <a:t>Syed </a:t>
            </a:r>
            <a:r>
              <a:rPr lang="en-IN" sz="1900" b="1" dirty="0" err="1" smtClean="0">
                <a:solidFill>
                  <a:schemeClr val="tx1"/>
                </a:solidFill>
              </a:rPr>
              <a:t>sohaib</a:t>
            </a:r>
            <a:r>
              <a:rPr lang="en-IN" sz="1900" b="1" dirty="0" smtClean="0">
                <a:solidFill>
                  <a:schemeClr val="tx1"/>
                </a:solidFill>
              </a:rPr>
              <a:t> </a:t>
            </a:r>
            <a:r>
              <a:rPr lang="en-IN" sz="1900" b="1" dirty="0" err="1" smtClean="0">
                <a:solidFill>
                  <a:schemeClr val="tx1"/>
                </a:solidFill>
              </a:rPr>
              <a:t>shabbir</a:t>
            </a:r>
            <a:endParaRPr lang="en-IN" sz="1900" b="1" dirty="0" smtClean="0">
              <a:solidFill>
                <a:schemeClr val="tx1"/>
              </a:solidFill>
            </a:endParaRPr>
          </a:p>
          <a:p>
            <a:pPr lvl="1"/>
            <a:r>
              <a:rPr lang="en-IN" sz="1900" b="1" dirty="0" smtClean="0">
                <a:solidFill>
                  <a:schemeClr val="tx1"/>
                </a:solidFill>
              </a:rPr>
              <a:t>                                                                 </a:t>
            </a:r>
            <a:r>
              <a:rPr lang="en-IN" sz="1900" b="1" dirty="0" err="1" smtClean="0">
                <a:solidFill>
                  <a:schemeClr val="tx1"/>
                </a:solidFill>
              </a:rPr>
              <a:t>Shreyas</a:t>
            </a:r>
            <a:r>
              <a:rPr lang="en-IN" sz="1900" b="1" dirty="0" smtClean="0">
                <a:solidFill>
                  <a:schemeClr val="tx1"/>
                </a:solidFill>
              </a:rPr>
              <a:t> </a:t>
            </a:r>
            <a:r>
              <a:rPr lang="en-IN" sz="1900" b="1" dirty="0" err="1" smtClean="0">
                <a:solidFill>
                  <a:schemeClr val="tx1"/>
                </a:solidFill>
              </a:rPr>
              <a:t>Gawankar</a:t>
            </a:r>
            <a:endParaRPr lang="en-IN" sz="1900" b="1" dirty="0" smtClean="0">
              <a:solidFill>
                <a:schemeClr val="tx1"/>
              </a:solidFill>
            </a:endParaRPr>
          </a:p>
          <a:p>
            <a:pPr lvl="1"/>
            <a:r>
              <a:rPr lang="en-IN" sz="1900" b="1" dirty="0" smtClean="0">
                <a:solidFill>
                  <a:schemeClr val="tx1"/>
                </a:solidFill>
              </a:rPr>
              <a:t>                                                     Mathew R</a:t>
            </a:r>
          </a:p>
          <a:p>
            <a:pPr lvl="1"/>
            <a:r>
              <a:rPr lang="en-IN" sz="1900" b="1" dirty="0" smtClean="0">
                <a:solidFill>
                  <a:schemeClr val="tx1"/>
                </a:solidFill>
              </a:rPr>
              <a:t>                                                                  </a:t>
            </a:r>
            <a:r>
              <a:rPr lang="en-IN" sz="1900" b="1" dirty="0" err="1" smtClean="0">
                <a:solidFill>
                  <a:schemeClr val="tx1"/>
                </a:solidFill>
              </a:rPr>
              <a:t>Pulivarthi</a:t>
            </a:r>
            <a:r>
              <a:rPr lang="en-IN" sz="1900" b="1" dirty="0" smtClean="0">
                <a:solidFill>
                  <a:schemeClr val="tx1"/>
                </a:solidFill>
              </a:rPr>
              <a:t> </a:t>
            </a:r>
            <a:r>
              <a:rPr lang="en-IN" sz="1900" b="1" dirty="0" err="1" smtClean="0">
                <a:solidFill>
                  <a:schemeClr val="tx1"/>
                </a:solidFill>
              </a:rPr>
              <a:t>Srikanth</a:t>
            </a:r>
            <a:r>
              <a:rPr lang="en-IN" sz="1900" b="1" dirty="0" smtClean="0">
                <a:solidFill>
                  <a:schemeClr val="tx1"/>
                </a:solidFill>
              </a:rPr>
              <a:t> </a:t>
            </a:r>
            <a:r>
              <a:rPr lang="en-IN" b="1" dirty="0" smtClean="0">
                <a:solidFill>
                  <a:schemeClr val="tx1"/>
                </a:solidFill>
              </a:rPr>
              <a:t> </a:t>
            </a:r>
            <a:r>
              <a:rPr lang="en-IN" b="1" dirty="0" smtClean="0"/>
              <a:t>                  </a:t>
            </a:r>
            <a:endParaRPr lang="en-IN" b="1" dirty="0"/>
          </a:p>
        </p:txBody>
      </p:sp>
    </p:spTree>
    <p:extLst>
      <p:ext uri="{BB962C8B-B14F-4D97-AF65-F5344CB8AC3E}">
        <p14:creationId xmlns:p14="http://schemas.microsoft.com/office/powerpoint/2010/main" val="2891039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487"/>
            <a:ext cx="10515600" cy="491705"/>
          </a:xfrm>
        </p:spPr>
        <p:txBody>
          <a:bodyPr>
            <a:noAutofit/>
          </a:bodyPr>
          <a:lstStyle/>
          <a:p>
            <a:r>
              <a:rPr lang="en-US" sz="3600" dirty="0"/>
              <a:t>Project Summary</a:t>
            </a:r>
            <a:r>
              <a:rPr lang="en-US" sz="3600" dirty="0" smtClean="0"/>
              <a:t>:  </a:t>
            </a:r>
            <a:r>
              <a:rPr lang="en-US" sz="3600" dirty="0"/>
              <a:t>Bank Analytics Dashboard</a:t>
            </a:r>
            <a:endParaRPr lang="en-IN" sz="3600" b="1" dirty="0"/>
          </a:p>
        </p:txBody>
      </p:sp>
      <p:sp>
        <p:nvSpPr>
          <p:cNvPr id="3" name="Content Placeholder 2"/>
          <p:cNvSpPr>
            <a:spLocks noGrp="1"/>
          </p:cNvSpPr>
          <p:nvPr>
            <p:ph idx="1"/>
          </p:nvPr>
        </p:nvSpPr>
        <p:spPr>
          <a:xfrm>
            <a:off x="838200" y="1276710"/>
            <a:ext cx="10515600" cy="4813540"/>
          </a:xfrm>
        </p:spPr>
        <p:txBody>
          <a:bodyPr>
            <a:normAutofit/>
          </a:bodyPr>
          <a:lstStyle/>
          <a:p>
            <a:r>
              <a:rPr lang="en-US" sz="2000" dirty="0" smtClean="0"/>
              <a:t>The bank Analytics Dashboard  </a:t>
            </a:r>
            <a:r>
              <a:rPr lang="en-US" sz="2000" dirty="0"/>
              <a:t>is designed to provide a complete view of the bank’s loan and collection performance. It tracks key metrics such as total loan amount, total loans, total collection, total interest, delinquent clients, and default percentage</a:t>
            </a:r>
            <a:r>
              <a:rPr lang="en-US" sz="2000" dirty="0" smtClean="0"/>
              <a:t>.</a:t>
            </a:r>
          </a:p>
          <a:p>
            <a:pPr marL="0" indent="0">
              <a:buNone/>
            </a:pPr>
            <a:endParaRPr lang="en-US" sz="2000" dirty="0"/>
          </a:p>
          <a:p>
            <a:r>
              <a:rPr lang="en-US" sz="2000" dirty="0"/>
              <a:t>The dashboard analyzes data from different perspectives—branch, state, product type, religion, loan grade, loan status, and customer age group—to identify trends and patterns. It also highlights disbursement trends and loan maturity, helping the bank understand performance over time</a:t>
            </a:r>
            <a:r>
              <a:rPr lang="en-US" sz="2000" dirty="0" smtClean="0"/>
              <a:t>.</a:t>
            </a:r>
          </a:p>
          <a:p>
            <a:endParaRPr lang="en-US" sz="2000" dirty="0"/>
          </a:p>
          <a:p>
            <a:r>
              <a:rPr lang="en-US" sz="2000" dirty="0"/>
              <a:t>Overall, this project helps management make informed decisions, monitor financial health, and improve loan portfolio quality through data-driven insights.</a:t>
            </a:r>
          </a:p>
        </p:txBody>
      </p:sp>
    </p:spTree>
    <p:extLst>
      <p:ext uri="{BB962C8B-B14F-4D97-AF65-F5344CB8AC3E}">
        <p14:creationId xmlns:p14="http://schemas.microsoft.com/office/powerpoint/2010/main" val="10118632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666891" y="1438792"/>
            <a:ext cx="3088256" cy="24085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p:cNvPicPr>
            <a:picLocks noChangeAspect="1"/>
          </p:cNvPicPr>
          <p:nvPr/>
        </p:nvPicPr>
        <p:blipFill>
          <a:blip r:embed="rId3"/>
          <a:stretch>
            <a:fillRect/>
          </a:stretch>
        </p:blipFill>
        <p:spPr>
          <a:xfrm>
            <a:off x="7957869" y="1438792"/>
            <a:ext cx="3178833" cy="24085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Rectangle 1"/>
          <p:cNvSpPr/>
          <p:nvPr/>
        </p:nvSpPr>
        <p:spPr>
          <a:xfrm>
            <a:off x="897147" y="1326649"/>
            <a:ext cx="3217653" cy="3278038"/>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600" b="1" dirty="0" smtClean="0">
                <a:solidFill>
                  <a:schemeClr val="tx1"/>
                </a:solidFill>
                <a:latin typeface="Arial" panose="020B0604020202020204" pitchFamily="34" charset="0"/>
              </a:rPr>
              <a:t>Total </a:t>
            </a:r>
            <a:r>
              <a:rPr lang="en-US" altLang="en-US" sz="1600" b="1" dirty="0">
                <a:solidFill>
                  <a:schemeClr val="tx1"/>
                </a:solidFill>
                <a:latin typeface="Arial" panose="020B0604020202020204" pitchFamily="34" charset="0"/>
              </a:rPr>
              <a:t>Loan Amount </a:t>
            </a:r>
            <a:r>
              <a:rPr lang="en-US" altLang="en-US" sz="1600" b="1" dirty="0" smtClean="0">
                <a:solidFill>
                  <a:schemeClr val="tx1"/>
                </a:solidFill>
                <a:latin typeface="Arial" panose="020B0604020202020204" pitchFamily="34" charset="0"/>
              </a:rPr>
              <a:t>Funded</a:t>
            </a:r>
            <a:endParaRPr lang="en-US" altLang="en-US" sz="1600" dirty="0" smtClean="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b="1" dirty="0" smtClean="0">
                <a:solidFill>
                  <a:schemeClr val="tx1"/>
                </a:solidFill>
                <a:latin typeface="Arial" panose="020B0604020202020204" pitchFamily="34" charset="0"/>
              </a:rPr>
              <a:t>Total Loans</a:t>
            </a:r>
            <a:endParaRPr lang="en-US" altLang="en-US"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b="1" dirty="0">
                <a:solidFill>
                  <a:schemeClr val="tx1"/>
                </a:solidFill>
                <a:latin typeface="Arial" panose="020B0604020202020204" pitchFamily="34" charset="0"/>
              </a:rPr>
              <a:t>Total </a:t>
            </a:r>
            <a:r>
              <a:rPr lang="en-US" altLang="en-US" b="1" dirty="0" smtClean="0">
                <a:solidFill>
                  <a:schemeClr val="tx1"/>
                </a:solidFill>
                <a:latin typeface="Arial" panose="020B0604020202020204" pitchFamily="34" charset="0"/>
              </a:rPr>
              <a:t>Collection</a:t>
            </a:r>
            <a:r>
              <a:rPr lang="en-US" altLang="en-US" dirty="0" smtClean="0">
                <a:solidFill>
                  <a:schemeClr val="tx1"/>
                </a:solidFill>
                <a:latin typeface="Arial" panose="020B0604020202020204" pitchFamily="34" charset="0"/>
              </a:rPr>
              <a: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b="1" dirty="0" smtClean="0">
                <a:solidFill>
                  <a:schemeClr val="tx1"/>
                </a:solidFill>
                <a:latin typeface="Arial" panose="020B0604020202020204" pitchFamily="34" charset="0"/>
              </a:rPr>
              <a:t>Total Interest</a:t>
            </a:r>
            <a:endParaRPr lang="en-US" altLang="en-US" dirty="0" smtClean="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b="1" dirty="0" smtClean="0">
                <a:solidFill>
                  <a:schemeClr val="tx1"/>
                </a:solidFill>
                <a:latin typeface="Arial" panose="020B0604020202020204" pitchFamily="34" charset="0"/>
              </a:rPr>
              <a:t> Delinquent </a:t>
            </a:r>
            <a:r>
              <a:rPr lang="en-US" altLang="en-US" b="1" dirty="0">
                <a:solidFill>
                  <a:schemeClr val="tx1"/>
                </a:solidFill>
                <a:latin typeface="Arial" panose="020B0604020202020204" pitchFamily="34" charset="0"/>
              </a:rPr>
              <a:t>Client </a:t>
            </a:r>
            <a:r>
              <a:rPr lang="en-US" altLang="en-US" b="1" dirty="0" smtClean="0">
                <a:solidFill>
                  <a:schemeClr val="tx1"/>
                </a:solidFill>
                <a:latin typeface="Arial" panose="020B0604020202020204" pitchFamily="34" charset="0"/>
              </a:rPr>
              <a:t>Count</a:t>
            </a:r>
            <a:endParaRPr lang="en-US" altLang="en-US"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b="1" dirty="0" smtClean="0">
                <a:solidFill>
                  <a:schemeClr val="tx1"/>
                </a:solidFill>
                <a:latin typeface="Arial" panose="020B0604020202020204" pitchFamily="34" charset="0"/>
              </a:rPr>
              <a:t>Delinquent </a:t>
            </a:r>
            <a:r>
              <a:rPr lang="en-US" altLang="en-US" b="1" dirty="0">
                <a:solidFill>
                  <a:schemeClr val="tx1"/>
                </a:solidFill>
                <a:latin typeface="Arial" panose="020B0604020202020204" pitchFamily="34" charset="0"/>
              </a:rPr>
              <a:t>Loan </a:t>
            </a:r>
            <a:r>
              <a:rPr lang="en-US" altLang="en-US" b="1" dirty="0" smtClean="0">
                <a:solidFill>
                  <a:schemeClr val="tx1"/>
                </a:solidFill>
                <a:latin typeface="Arial" panose="020B0604020202020204" pitchFamily="34" charset="0"/>
              </a:rPr>
              <a:t>Rate</a:t>
            </a:r>
            <a:endParaRPr lang="en-US" altLang="en-US" dirty="0">
              <a:solidFill>
                <a:schemeClr val="tx1"/>
              </a:solidFill>
              <a:latin typeface="Arial" panose="020B0604020202020204" pitchFamily="34" charset="0"/>
            </a:endParaRP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b="1" dirty="0" smtClean="0">
                <a:solidFill>
                  <a:schemeClr val="tx1"/>
                </a:solidFill>
                <a:latin typeface="Arial" panose="020B0604020202020204" pitchFamily="34" charset="0"/>
              </a:rPr>
              <a:t>Default </a:t>
            </a:r>
            <a:r>
              <a:rPr lang="en-US" altLang="en-US" b="1" dirty="0">
                <a:solidFill>
                  <a:schemeClr val="tx1"/>
                </a:solidFill>
                <a:latin typeface="Arial" panose="020B0604020202020204" pitchFamily="34" charset="0"/>
              </a:rPr>
              <a:t>Loan </a:t>
            </a:r>
            <a:r>
              <a:rPr lang="en-US" altLang="en-US" b="1" dirty="0" smtClean="0">
                <a:solidFill>
                  <a:schemeClr val="tx1"/>
                </a:solidFill>
                <a:latin typeface="Arial" panose="020B0604020202020204" pitchFamily="34" charset="0"/>
              </a:rPr>
              <a:t>Rate</a:t>
            </a:r>
            <a:endParaRPr lang="en-IN" dirty="0"/>
          </a:p>
        </p:txBody>
      </p:sp>
      <p:sp>
        <p:nvSpPr>
          <p:cNvPr id="3" name="Rectangle 2"/>
          <p:cNvSpPr/>
          <p:nvPr/>
        </p:nvSpPr>
        <p:spPr>
          <a:xfrm>
            <a:off x="4376786" y="638355"/>
            <a:ext cx="6885002" cy="629728"/>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800" b="1" dirty="0" smtClean="0"/>
              <a:t>Charts and Visualization</a:t>
            </a:r>
            <a:endParaRPr lang="en-IN" sz="2800" b="1" dirty="0"/>
          </a:p>
        </p:txBody>
      </p:sp>
      <p:sp>
        <p:nvSpPr>
          <p:cNvPr id="8" name="Rectangle 7"/>
          <p:cNvSpPr/>
          <p:nvPr/>
        </p:nvSpPr>
        <p:spPr>
          <a:xfrm>
            <a:off x="781251" y="638355"/>
            <a:ext cx="3449444" cy="629728"/>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000" b="1" dirty="0" smtClean="0"/>
              <a:t>KPI’s</a:t>
            </a:r>
            <a:endParaRPr lang="en-IN" sz="2000" b="1" dirty="0"/>
          </a:p>
        </p:txBody>
      </p:sp>
      <p:pic>
        <p:nvPicPr>
          <p:cNvPr id="9" name="Picture 8"/>
          <p:cNvPicPr>
            <a:picLocks noChangeAspect="1"/>
          </p:cNvPicPr>
          <p:nvPr/>
        </p:nvPicPr>
        <p:blipFill>
          <a:blip r:embed="rId4"/>
          <a:stretch>
            <a:fillRect/>
          </a:stretch>
        </p:blipFill>
        <p:spPr>
          <a:xfrm>
            <a:off x="4601631" y="4018090"/>
            <a:ext cx="6712475" cy="21584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122395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6981"/>
            <a:ext cx="10515600" cy="672861"/>
          </a:xfrm>
        </p:spPr>
        <p:txBody>
          <a:bodyPr>
            <a:normAutofit fontScale="90000"/>
          </a:bodyPr>
          <a:lstStyle/>
          <a:p>
            <a:pPr algn="ctr"/>
            <a:r>
              <a:rPr lang="en-US" sz="4000" b="1" smtClean="0"/>
              <a:t>Excel Dashboard </a:t>
            </a:r>
            <a:endParaRPr lang="en-IN" sz="4000" b="1"/>
          </a:p>
        </p:txBody>
      </p:sp>
      <p:pic>
        <p:nvPicPr>
          <p:cNvPr id="4" name="Content Placeholder 3"/>
          <p:cNvPicPr>
            <a:picLocks noGrp="1" noChangeAspect="1"/>
          </p:cNvPicPr>
          <p:nvPr>
            <p:ph idx="1"/>
          </p:nvPr>
        </p:nvPicPr>
        <p:blipFill>
          <a:blip r:embed="rId2"/>
          <a:stretch>
            <a:fillRect/>
          </a:stretch>
        </p:blipFill>
        <p:spPr>
          <a:xfrm>
            <a:off x="838200" y="1319842"/>
            <a:ext cx="10515600" cy="4882550"/>
          </a:xfrm>
          <a:prstGeom prst="rect">
            <a:avLst/>
          </a:prstGeom>
        </p:spPr>
      </p:pic>
    </p:spTree>
    <p:extLst>
      <p:ext uri="{BB962C8B-B14F-4D97-AF65-F5344CB8AC3E}">
        <p14:creationId xmlns:p14="http://schemas.microsoft.com/office/powerpoint/2010/main" val="10950149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0113"/>
            <a:ext cx="10515600" cy="569344"/>
          </a:xfrm>
        </p:spPr>
        <p:txBody>
          <a:bodyPr>
            <a:normAutofit fontScale="90000"/>
          </a:bodyPr>
          <a:lstStyle/>
          <a:p>
            <a:pPr algn="ctr"/>
            <a:r>
              <a:rPr lang="en-US" b="1" dirty="0" smtClean="0"/>
              <a:t>Power BI Dashboard </a:t>
            </a:r>
            <a:endParaRPr lang="en-IN" b="1" dirty="0"/>
          </a:p>
        </p:txBody>
      </p:sp>
      <p:pic>
        <p:nvPicPr>
          <p:cNvPr id="4" name="Content Placeholder 3"/>
          <p:cNvPicPr>
            <a:picLocks noGrp="1" noChangeAspect="1"/>
          </p:cNvPicPr>
          <p:nvPr>
            <p:ph idx="1"/>
          </p:nvPr>
        </p:nvPicPr>
        <p:blipFill>
          <a:blip r:embed="rId2"/>
          <a:stretch>
            <a:fillRect/>
          </a:stretch>
        </p:blipFill>
        <p:spPr>
          <a:xfrm>
            <a:off x="838200" y="1345721"/>
            <a:ext cx="10515600" cy="4796288"/>
          </a:xfrm>
          <a:prstGeom prst="rect">
            <a:avLst/>
          </a:prstGeom>
        </p:spPr>
      </p:pic>
    </p:spTree>
    <p:extLst>
      <p:ext uri="{BB962C8B-B14F-4D97-AF65-F5344CB8AC3E}">
        <p14:creationId xmlns:p14="http://schemas.microsoft.com/office/powerpoint/2010/main" val="2926139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0112"/>
            <a:ext cx="10515600" cy="534839"/>
          </a:xfrm>
        </p:spPr>
        <p:txBody>
          <a:bodyPr>
            <a:normAutofit fontScale="90000"/>
          </a:bodyPr>
          <a:lstStyle/>
          <a:p>
            <a:pPr algn="ctr"/>
            <a:r>
              <a:rPr lang="en-US" b="1" dirty="0" smtClean="0"/>
              <a:t>Tableau Dashboard</a:t>
            </a:r>
            <a:endParaRPr lang="en-IN" b="1" dirty="0"/>
          </a:p>
        </p:txBody>
      </p:sp>
      <p:pic>
        <p:nvPicPr>
          <p:cNvPr id="7" name="Content Placeholder 6"/>
          <p:cNvPicPr>
            <a:picLocks noGrp="1" noChangeAspect="1"/>
          </p:cNvPicPr>
          <p:nvPr>
            <p:ph idx="1"/>
          </p:nvPr>
        </p:nvPicPr>
        <p:blipFill>
          <a:blip r:embed="rId2"/>
          <a:stretch>
            <a:fillRect/>
          </a:stretch>
        </p:blipFill>
        <p:spPr>
          <a:xfrm>
            <a:off x="838200" y="1224951"/>
            <a:ext cx="10515600" cy="4977441"/>
          </a:xfrm>
          <a:prstGeom prst="rect">
            <a:avLst/>
          </a:prstGeom>
        </p:spPr>
      </p:pic>
    </p:spTree>
    <p:extLst>
      <p:ext uri="{BB962C8B-B14F-4D97-AF65-F5344CB8AC3E}">
        <p14:creationId xmlns:p14="http://schemas.microsoft.com/office/powerpoint/2010/main" val="584487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4234"/>
            <a:ext cx="10515600" cy="526212"/>
          </a:xfrm>
        </p:spPr>
        <p:txBody>
          <a:bodyPr>
            <a:normAutofit fontScale="90000"/>
          </a:bodyPr>
          <a:lstStyle/>
          <a:p>
            <a:pPr algn="ctr"/>
            <a:r>
              <a:rPr lang="en-US" b="1" dirty="0" smtClean="0"/>
              <a:t>MySQL Queries </a:t>
            </a:r>
            <a:endParaRPr lang="en-IN" b="1" dirty="0"/>
          </a:p>
        </p:txBody>
      </p:sp>
      <p:pic>
        <p:nvPicPr>
          <p:cNvPr id="6" name="Content Placeholder 5"/>
          <p:cNvPicPr>
            <a:picLocks noGrp="1" noChangeAspect="1"/>
          </p:cNvPicPr>
          <p:nvPr>
            <p:ph idx="1"/>
          </p:nvPr>
        </p:nvPicPr>
        <p:blipFill>
          <a:blip r:embed="rId2"/>
          <a:stretch>
            <a:fillRect/>
          </a:stretch>
        </p:blipFill>
        <p:spPr>
          <a:xfrm>
            <a:off x="1749006" y="1354347"/>
            <a:ext cx="8693988" cy="4546121"/>
          </a:xfrm>
          <a:prstGeom prst="rect">
            <a:avLst/>
          </a:prstGeom>
        </p:spPr>
      </p:pic>
    </p:spTree>
    <p:extLst>
      <p:ext uri="{BB962C8B-B14F-4D97-AF65-F5344CB8AC3E}">
        <p14:creationId xmlns:p14="http://schemas.microsoft.com/office/powerpoint/2010/main" val="98474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646981"/>
            <a:ext cx="9601196" cy="672861"/>
          </a:xfrm>
        </p:spPr>
        <p:txBody>
          <a:bodyPr>
            <a:normAutofit fontScale="90000"/>
          </a:bodyPr>
          <a:lstStyle/>
          <a:p>
            <a:r>
              <a:rPr lang="en-US" b="1" dirty="0"/>
              <a:t>Key Takeaways:</a:t>
            </a:r>
          </a:p>
        </p:txBody>
      </p:sp>
      <p:sp>
        <p:nvSpPr>
          <p:cNvPr id="3" name="Content Placeholder 2"/>
          <p:cNvSpPr>
            <a:spLocks noGrp="1"/>
          </p:cNvSpPr>
          <p:nvPr>
            <p:ph idx="1"/>
          </p:nvPr>
        </p:nvSpPr>
        <p:spPr>
          <a:xfrm>
            <a:off x="1295401" y="1319842"/>
            <a:ext cx="9601196" cy="4556026"/>
          </a:xfrm>
        </p:spPr>
        <p:txBody>
          <a:bodyPr>
            <a:normAutofit fontScale="92500" lnSpcReduction="10000"/>
          </a:bodyPr>
          <a:lstStyle/>
          <a:p>
            <a:r>
              <a:rPr lang="en-US" dirty="0" smtClean="0"/>
              <a:t>The </a:t>
            </a:r>
            <a:r>
              <a:rPr lang="en-US" dirty="0"/>
              <a:t>dashboard transforms raw banking data into actionable insights, giving a clear picture of loan performance.</a:t>
            </a:r>
          </a:p>
          <a:p>
            <a:r>
              <a:rPr lang="en-US" dirty="0"/>
              <a:t>It helps track financial strength through total loan amount, collections, and interest earned.</a:t>
            </a:r>
          </a:p>
          <a:p>
            <a:r>
              <a:rPr lang="en-US" dirty="0"/>
              <a:t>Risk indicators like delinquent clients and default rates make it easier to identify problem areas early.</a:t>
            </a:r>
          </a:p>
          <a:p>
            <a:r>
              <a:rPr lang="en-US" dirty="0"/>
              <a:t>By comparing loans across branches, states, and customer segments, the bank can pinpoint growth opportunities.</a:t>
            </a:r>
          </a:p>
          <a:p>
            <a:r>
              <a:rPr lang="en-US" dirty="0"/>
              <a:t>Visual trends in disbursement, product type, and loan maturity guide smarter business decisions.</a:t>
            </a:r>
          </a:p>
          <a:p>
            <a:r>
              <a:rPr lang="en-US" dirty="0"/>
              <a:t>Overall, the dashboard acts as a strategic tool for performance monitoring, risk control, and informed planning.</a:t>
            </a:r>
          </a:p>
          <a:p>
            <a:endParaRPr lang="en-IN" dirty="0"/>
          </a:p>
        </p:txBody>
      </p:sp>
    </p:spTree>
    <p:extLst>
      <p:ext uri="{BB962C8B-B14F-4D97-AF65-F5344CB8AC3E}">
        <p14:creationId xmlns:p14="http://schemas.microsoft.com/office/powerpoint/2010/main" val="140303370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116</TotalTime>
  <Words>283</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Garamond</vt:lpstr>
      <vt:lpstr>Organic</vt:lpstr>
      <vt:lpstr>Bank Analytics/Loan Analytics</vt:lpstr>
      <vt:lpstr>Project Summary:  Bank Analytics Dashboard</vt:lpstr>
      <vt:lpstr>PowerPoint Presentation</vt:lpstr>
      <vt:lpstr>Excel Dashboard </vt:lpstr>
      <vt:lpstr>Power BI Dashboard </vt:lpstr>
      <vt:lpstr>Tableau Dashboard</vt:lpstr>
      <vt:lpstr>MySQL Queries </vt:lpstr>
      <vt:lpstr>Key Takeaways: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Analytics</dc:title>
  <dc:creator>Microsoft account</dc:creator>
  <cp:lastModifiedBy>Microsoft account</cp:lastModifiedBy>
  <cp:revision>13</cp:revision>
  <dcterms:created xsi:type="dcterms:W3CDTF">2025-11-02T11:09:35Z</dcterms:created>
  <dcterms:modified xsi:type="dcterms:W3CDTF">2025-11-03T08:29:24Z</dcterms:modified>
</cp:coreProperties>
</file>