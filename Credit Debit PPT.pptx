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263" r:id="rId4"/>
    <p:sldId id="258" r:id="rId5"/>
    <p:sldId id="257" r:id="rId6"/>
    <p:sldId id="305" r:id="rId7"/>
    <p:sldId id="306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4E6F66-C0A9-4F69-BFF5-EB0D56682A2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125733-DF56-489E-8FF7-625F958219B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1.The chart displays two distinct lines, one for debit transactions and one for credit transactions, enabling a direct comparison across each month. </a:t>
          </a:r>
          <a:endParaRPr lang="en-US"/>
        </a:p>
      </dgm:t>
    </dgm:pt>
    <dgm:pt modelId="{06643888-706A-4FB1-A498-25099326D605}" type="parTrans" cxnId="{51F224F9-2C0A-41AC-B0B5-48E4C63DB1FA}">
      <dgm:prSet/>
      <dgm:spPr/>
      <dgm:t>
        <a:bodyPr/>
        <a:lstStyle/>
        <a:p>
          <a:endParaRPr lang="en-US"/>
        </a:p>
      </dgm:t>
    </dgm:pt>
    <dgm:pt modelId="{9CDE168A-21AB-4010-87D0-B5F4630B9EDC}" type="sibTrans" cxnId="{51F224F9-2C0A-41AC-B0B5-48E4C63DB1FA}">
      <dgm:prSet/>
      <dgm:spPr/>
      <dgm:t>
        <a:bodyPr/>
        <a:lstStyle/>
        <a:p>
          <a:endParaRPr lang="en-US"/>
        </a:p>
      </dgm:t>
    </dgm:pt>
    <dgm:pt modelId="{5E90527B-77FF-4437-AC27-514A24DB8EB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2.Debit transactions consistently remain higher than credit transactions throughout the year, indicating higher outgoing payments compared to incoming credits.</a:t>
          </a:r>
          <a:endParaRPr lang="en-US"/>
        </a:p>
      </dgm:t>
    </dgm:pt>
    <dgm:pt modelId="{9E223EC9-62A3-4CED-B375-25B97687178D}" type="parTrans" cxnId="{27BD4373-0EEA-48AC-9E56-72F92062A42B}">
      <dgm:prSet/>
      <dgm:spPr/>
      <dgm:t>
        <a:bodyPr/>
        <a:lstStyle/>
        <a:p>
          <a:endParaRPr lang="en-US"/>
        </a:p>
      </dgm:t>
    </dgm:pt>
    <dgm:pt modelId="{8619B73F-002E-44AB-9E76-4CFE8CA0B685}" type="sibTrans" cxnId="{27BD4373-0EEA-48AC-9E56-72F92062A42B}">
      <dgm:prSet/>
      <dgm:spPr/>
      <dgm:t>
        <a:bodyPr/>
        <a:lstStyle/>
        <a:p>
          <a:endParaRPr lang="en-US"/>
        </a:p>
      </dgm:t>
    </dgm:pt>
    <dgm:pt modelId="{3C2EBC33-3D41-4A41-96F4-1D33459B83A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3 Both debit and credit lines show minor fluctuations from January to November, with only slight variations month-to-month.</a:t>
          </a:r>
          <a:endParaRPr lang="en-US"/>
        </a:p>
      </dgm:t>
    </dgm:pt>
    <dgm:pt modelId="{D8C62973-3A36-48BB-89EB-54EA2D599681}" type="parTrans" cxnId="{6438B023-2DAA-4F8D-9BC6-E1E56970DBAF}">
      <dgm:prSet/>
      <dgm:spPr/>
      <dgm:t>
        <a:bodyPr/>
        <a:lstStyle/>
        <a:p>
          <a:endParaRPr lang="en-US"/>
        </a:p>
      </dgm:t>
    </dgm:pt>
    <dgm:pt modelId="{719BDD25-7E3F-43BF-B8FD-53D5B9793BDB}" type="sibTrans" cxnId="{6438B023-2DAA-4F8D-9BC6-E1E56970DBAF}">
      <dgm:prSet/>
      <dgm:spPr/>
      <dgm:t>
        <a:bodyPr/>
        <a:lstStyle/>
        <a:p>
          <a:endParaRPr lang="en-US"/>
        </a:p>
      </dgm:t>
    </dgm:pt>
    <dgm:pt modelId="{29530F6A-9484-42D0-8061-7F4C438AD6E4}" type="pres">
      <dgm:prSet presAssocID="{274E6F66-C0A9-4F69-BFF5-EB0D56682A2C}" presName="root" presStyleCnt="0">
        <dgm:presLayoutVars>
          <dgm:dir/>
          <dgm:resizeHandles val="exact"/>
        </dgm:presLayoutVars>
      </dgm:prSet>
      <dgm:spPr/>
    </dgm:pt>
    <dgm:pt modelId="{611C0C73-D6D3-431E-A076-89468D62B6A8}" type="pres">
      <dgm:prSet presAssocID="{CE125733-DF56-489E-8FF7-625F958219B7}" presName="compNode" presStyleCnt="0"/>
      <dgm:spPr/>
    </dgm:pt>
    <dgm:pt modelId="{34A74BAA-9438-4C4B-85BC-242D5EAAC630}" type="pres">
      <dgm:prSet presAssocID="{CE125733-DF56-489E-8FF7-625F958219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BF69D081-E249-4173-9BD7-EA1C2EB9B1E4}" type="pres">
      <dgm:prSet presAssocID="{CE125733-DF56-489E-8FF7-625F958219B7}" presName="spaceRect" presStyleCnt="0"/>
      <dgm:spPr/>
    </dgm:pt>
    <dgm:pt modelId="{A4F29143-310C-488E-9EF9-9CE2C4C4B16A}" type="pres">
      <dgm:prSet presAssocID="{CE125733-DF56-489E-8FF7-625F958219B7}" presName="textRect" presStyleLbl="revTx" presStyleIdx="0" presStyleCnt="3">
        <dgm:presLayoutVars>
          <dgm:chMax val="1"/>
          <dgm:chPref val="1"/>
        </dgm:presLayoutVars>
      </dgm:prSet>
      <dgm:spPr/>
    </dgm:pt>
    <dgm:pt modelId="{33356CBF-8452-4DFA-8DB7-B9AE28A3FED7}" type="pres">
      <dgm:prSet presAssocID="{9CDE168A-21AB-4010-87D0-B5F4630B9EDC}" presName="sibTrans" presStyleCnt="0"/>
      <dgm:spPr/>
    </dgm:pt>
    <dgm:pt modelId="{50B92C0A-8264-4444-85D7-83EE9D7AE6BA}" type="pres">
      <dgm:prSet presAssocID="{5E90527B-77FF-4437-AC27-514A24DB8EB4}" presName="compNode" presStyleCnt="0"/>
      <dgm:spPr/>
    </dgm:pt>
    <dgm:pt modelId="{C618E08E-3C83-4746-A553-0A885B282B38}" type="pres">
      <dgm:prSet presAssocID="{5E90527B-77FF-4437-AC27-514A24DB8E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2760FA6-6DF0-4B5A-B723-F8FA4EB2602D}" type="pres">
      <dgm:prSet presAssocID="{5E90527B-77FF-4437-AC27-514A24DB8EB4}" presName="spaceRect" presStyleCnt="0"/>
      <dgm:spPr/>
    </dgm:pt>
    <dgm:pt modelId="{BE0FD379-8BF3-4508-AA00-B5E537BC77E8}" type="pres">
      <dgm:prSet presAssocID="{5E90527B-77FF-4437-AC27-514A24DB8EB4}" presName="textRect" presStyleLbl="revTx" presStyleIdx="1" presStyleCnt="3">
        <dgm:presLayoutVars>
          <dgm:chMax val="1"/>
          <dgm:chPref val="1"/>
        </dgm:presLayoutVars>
      </dgm:prSet>
      <dgm:spPr/>
    </dgm:pt>
    <dgm:pt modelId="{25D5AB4E-14DA-4B5B-8858-3F80DD69E9E5}" type="pres">
      <dgm:prSet presAssocID="{8619B73F-002E-44AB-9E76-4CFE8CA0B685}" presName="sibTrans" presStyleCnt="0"/>
      <dgm:spPr/>
    </dgm:pt>
    <dgm:pt modelId="{FA21DF88-3D47-4AC9-98A2-9B8C9C6F4B86}" type="pres">
      <dgm:prSet presAssocID="{3C2EBC33-3D41-4A41-96F4-1D33459B83A5}" presName="compNode" presStyleCnt="0"/>
      <dgm:spPr/>
    </dgm:pt>
    <dgm:pt modelId="{E107F62F-7089-4AF9-836E-B5AE4D8133E5}" type="pres">
      <dgm:prSet presAssocID="{3C2EBC33-3D41-4A41-96F4-1D33459B83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53A4592E-A9A1-48A3-9566-CE3AB42C25D0}" type="pres">
      <dgm:prSet presAssocID="{3C2EBC33-3D41-4A41-96F4-1D33459B83A5}" presName="spaceRect" presStyleCnt="0"/>
      <dgm:spPr/>
    </dgm:pt>
    <dgm:pt modelId="{2D1E8102-8936-4A35-A34A-480A0242CC37}" type="pres">
      <dgm:prSet presAssocID="{3C2EBC33-3D41-4A41-96F4-1D33459B83A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438B023-2DAA-4F8D-9BC6-E1E56970DBAF}" srcId="{274E6F66-C0A9-4F69-BFF5-EB0D56682A2C}" destId="{3C2EBC33-3D41-4A41-96F4-1D33459B83A5}" srcOrd="2" destOrd="0" parTransId="{D8C62973-3A36-48BB-89EB-54EA2D599681}" sibTransId="{719BDD25-7E3F-43BF-B8FD-53D5B9793BDB}"/>
    <dgm:cxn modelId="{20141F36-2ABC-46ED-A3A2-8E6DB71742B2}" type="presOf" srcId="{274E6F66-C0A9-4F69-BFF5-EB0D56682A2C}" destId="{29530F6A-9484-42D0-8061-7F4C438AD6E4}" srcOrd="0" destOrd="0" presId="urn:microsoft.com/office/officeart/2018/2/layout/IconLabelList"/>
    <dgm:cxn modelId="{B8BD3560-66B5-43E1-8EB4-9FD60F3E908B}" type="presOf" srcId="{5E90527B-77FF-4437-AC27-514A24DB8EB4}" destId="{BE0FD379-8BF3-4508-AA00-B5E537BC77E8}" srcOrd="0" destOrd="0" presId="urn:microsoft.com/office/officeart/2018/2/layout/IconLabelList"/>
    <dgm:cxn modelId="{7F574D64-DF64-4C53-9E3C-B2166A46BE5A}" type="presOf" srcId="{CE125733-DF56-489E-8FF7-625F958219B7}" destId="{A4F29143-310C-488E-9EF9-9CE2C4C4B16A}" srcOrd="0" destOrd="0" presId="urn:microsoft.com/office/officeart/2018/2/layout/IconLabelList"/>
    <dgm:cxn modelId="{8D98B56F-476C-453B-B345-F24976651898}" type="presOf" srcId="{3C2EBC33-3D41-4A41-96F4-1D33459B83A5}" destId="{2D1E8102-8936-4A35-A34A-480A0242CC37}" srcOrd="0" destOrd="0" presId="urn:microsoft.com/office/officeart/2018/2/layout/IconLabelList"/>
    <dgm:cxn modelId="{27BD4373-0EEA-48AC-9E56-72F92062A42B}" srcId="{274E6F66-C0A9-4F69-BFF5-EB0D56682A2C}" destId="{5E90527B-77FF-4437-AC27-514A24DB8EB4}" srcOrd="1" destOrd="0" parTransId="{9E223EC9-62A3-4CED-B375-25B97687178D}" sibTransId="{8619B73F-002E-44AB-9E76-4CFE8CA0B685}"/>
    <dgm:cxn modelId="{51F224F9-2C0A-41AC-B0B5-48E4C63DB1FA}" srcId="{274E6F66-C0A9-4F69-BFF5-EB0D56682A2C}" destId="{CE125733-DF56-489E-8FF7-625F958219B7}" srcOrd="0" destOrd="0" parTransId="{06643888-706A-4FB1-A498-25099326D605}" sibTransId="{9CDE168A-21AB-4010-87D0-B5F4630B9EDC}"/>
    <dgm:cxn modelId="{6542A6BA-3690-4ECF-8CCB-A692EF2A9F82}" type="presParOf" srcId="{29530F6A-9484-42D0-8061-7F4C438AD6E4}" destId="{611C0C73-D6D3-431E-A076-89468D62B6A8}" srcOrd="0" destOrd="0" presId="urn:microsoft.com/office/officeart/2018/2/layout/IconLabelList"/>
    <dgm:cxn modelId="{DFC40B44-2B96-429D-8EF0-4B784B8271ED}" type="presParOf" srcId="{611C0C73-D6D3-431E-A076-89468D62B6A8}" destId="{34A74BAA-9438-4C4B-85BC-242D5EAAC630}" srcOrd="0" destOrd="0" presId="urn:microsoft.com/office/officeart/2018/2/layout/IconLabelList"/>
    <dgm:cxn modelId="{A55479D2-E863-4FF7-A00A-197E57E1C64D}" type="presParOf" srcId="{611C0C73-D6D3-431E-A076-89468D62B6A8}" destId="{BF69D081-E249-4173-9BD7-EA1C2EB9B1E4}" srcOrd="1" destOrd="0" presId="urn:microsoft.com/office/officeart/2018/2/layout/IconLabelList"/>
    <dgm:cxn modelId="{322EF5B3-3DA7-4AF2-BBC2-CAC373C3E9B6}" type="presParOf" srcId="{611C0C73-D6D3-431E-A076-89468D62B6A8}" destId="{A4F29143-310C-488E-9EF9-9CE2C4C4B16A}" srcOrd="2" destOrd="0" presId="urn:microsoft.com/office/officeart/2018/2/layout/IconLabelList"/>
    <dgm:cxn modelId="{698CC7A4-8150-4D86-97BC-03C9F30BD374}" type="presParOf" srcId="{29530F6A-9484-42D0-8061-7F4C438AD6E4}" destId="{33356CBF-8452-4DFA-8DB7-B9AE28A3FED7}" srcOrd="1" destOrd="0" presId="urn:microsoft.com/office/officeart/2018/2/layout/IconLabelList"/>
    <dgm:cxn modelId="{DDD15F74-B98A-46A2-B0A0-7131232CCDEB}" type="presParOf" srcId="{29530F6A-9484-42D0-8061-7F4C438AD6E4}" destId="{50B92C0A-8264-4444-85D7-83EE9D7AE6BA}" srcOrd="2" destOrd="0" presId="urn:microsoft.com/office/officeart/2018/2/layout/IconLabelList"/>
    <dgm:cxn modelId="{C57D82D2-A861-49C4-8D34-AECD4CA3BC3D}" type="presParOf" srcId="{50B92C0A-8264-4444-85D7-83EE9D7AE6BA}" destId="{C618E08E-3C83-4746-A553-0A885B282B38}" srcOrd="0" destOrd="0" presId="urn:microsoft.com/office/officeart/2018/2/layout/IconLabelList"/>
    <dgm:cxn modelId="{488B30F1-9D82-4939-AFC9-3C611EEE4ACA}" type="presParOf" srcId="{50B92C0A-8264-4444-85D7-83EE9D7AE6BA}" destId="{E2760FA6-6DF0-4B5A-B723-F8FA4EB2602D}" srcOrd="1" destOrd="0" presId="urn:microsoft.com/office/officeart/2018/2/layout/IconLabelList"/>
    <dgm:cxn modelId="{5E942945-1918-4FC9-BEB0-530E9A0E77C2}" type="presParOf" srcId="{50B92C0A-8264-4444-85D7-83EE9D7AE6BA}" destId="{BE0FD379-8BF3-4508-AA00-B5E537BC77E8}" srcOrd="2" destOrd="0" presId="urn:microsoft.com/office/officeart/2018/2/layout/IconLabelList"/>
    <dgm:cxn modelId="{1138AF1E-719C-464D-A404-87E2A5FDF7ED}" type="presParOf" srcId="{29530F6A-9484-42D0-8061-7F4C438AD6E4}" destId="{25D5AB4E-14DA-4B5B-8858-3F80DD69E9E5}" srcOrd="3" destOrd="0" presId="urn:microsoft.com/office/officeart/2018/2/layout/IconLabelList"/>
    <dgm:cxn modelId="{F07B2C1E-C504-4667-B5A5-95582E13AE75}" type="presParOf" srcId="{29530F6A-9484-42D0-8061-7F4C438AD6E4}" destId="{FA21DF88-3D47-4AC9-98A2-9B8C9C6F4B86}" srcOrd="4" destOrd="0" presId="urn:microsoft.com/office/officeart/2018/2/layout/IconLabelList"/>
    <dgm:cxn modelId="{0CBD27F4-AF7C-498A-8195-2A02B3E16E55}" type="presParOf" srcId="{FA21DF88-3D47-4AC9-98A2-9B8C9C6F4B86}" destId="{E107F62F-7089-4AF9-836E-B5AE4D8133E5}" srcOrd="0" destOrd="0" presId="urn:microsoft.com/office/officeart/2018/2/layout/IconLabelList"/>
    <dgm:cxn modelId="{07CA1E9C-0857-482E-B1DB-05B8BE3A8A03}" type="presParOf" srcId="{FA21DF88-3D47-4AC9-98A2-9B8C9C6F4B86}" destId="{53A4592E-A9A1-48A3-9566-CE3AB42C25D0}" srcOrd="1" destOrd="0" presId="urn:microsoft.com/office/officeart/2018/2/layout/IconLabelList"/>
    <dgm:cxn modelId="{CBBE8715-2CD3-4C6A-A5BF-1E0AFB5E8547}" type="presParOf" srcId="{FA21DF88-3D47-4AC9-98A2-9B8C9C6F4B86}" destId="{2D1E8102-8936-4A35-A34A-480A0242CC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74BAA-9438-4C4B-85BC-242D5EAAC630}">
      <dsp:nvSpPr>
        <dsp:cNvPr id="0" name=""/>
        <dsp:cNvSpPr/>
      </dsp:nvSpPr>
      <dsp:spPr>
        <a:xfrm>
          <a:off x="634588" y="261572"/>
          <a:ext cx="963721" cy="9637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29143-310C-488E-9EF9-9CE2C4C4B16A}">
      <dsp:nvSpPr>
        <dsp:cNvPr id="0" name=""/>
        <dsp:cNvSpPr/>
      </dsp:nvSpPr>
      <dsp:spPr>
        <a:xfrm>
          <a:off x="45647" y="1576252"/>
          <a:ext cx="2141604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1.The chart displays two distinct lines, one for debit transactions and one for credit transactions, enabling a direct comparison across each month. </a:t>
          </a:r>
          <a:endParaRPr lang="en-US" sz="1100" kern="1200"/>
        </a:p>
      </dsp:txBody>
      <dsp:txXfrm>
        <a:off x="45647" y="1576252"/>
        <a:ext cx="2141604" cy="1024497"/>
      </dsp:txXfrm>
    </dsp:sp>
    <dsp:sp modelId="{C618E08E-3C83-4746-A553-0A885B282B38}">
      <dsp:nvSpPr>
        <dsp:cNvPr id="0" name=""/>
        <dsp:cNvSpPr/>
      </dsp:nvSpPr>
      <dsp:spPr>
        <a:xfrm>
          <a:off x="3150974" y="261572"/>
          <a:ext cx="963721" cy="9637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FD379-8BF3-4508-AA00-B5E537BC77E8}">
      <dsp:nvSpPr>
        <dsp:cNvPr id="0" name=""/>
        <dsp:cNvSpPr/>
      </dsp:nvSpPr>
      <dsp:spPr>
        <a:xfrm>
          <a:off x="2562032" y="1576252"/>
          <a:ext cx="2141604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2.Debit transactions consistently remain higher than credit transactions throughout the year, indicating higher outgoing payments compared to incoming credits.</a:t>
          </a:r>
          <a:endParaRPr lang="en-US" sz="1100" kern="1200"/>
        </a:p>
      </dsp:txBody>
      <dsp:txXfrm>
        <a:off x="2562032" y="1576252"/>
        <a:ext cx="2141604" cy="1024497"/>
      </dsp:txXfrm>
    </dsp:sp>
    <dsp:sp modelId="{E107F62F-7089-4AF9-836E-B5AE4D8133E5}">
      <dsp:nvSpPr>
        <dsp:cNvPr id="0" name=""/>
        <dsp:cNvSpPr/>
      </dsp:nvSpPr>
      <dsp:spPr>
        <a:xfrm>
          <a:off x="5667359" y="261572"/>
          <a:ext cx="963721" cy="9637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E8102-8936-4A35-A34A-480A0242CC37}">
      <dsp:nvSpPr>
        <dsp:cNvPr id="0" name=""/>
        <dsp:cNvSpPr/>
      </dsp:nvSpPr>
      <dsp:spPr>
        <a:xfrm>
          <a:off x="5078417" y="1576252"/>
          <a:ext cx="2141604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3 Both debit and credit lines show minor fluctuations from January to November, with only slight variations month-to-month.</a:t>
          </a:r>
          <a:endParaRPr lang="en-US" sz="1100" kern="1200"/>
        </a:p>
      </dsp:txBody>
      <dsp:txXfrm>
        <a:off x="5078417" y="1576252"/>
        <a:ext cx="2141604" cy="10244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345C-35CD-68C8-0A41-345C7D5B0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2D42C-1D89-3DA1-00AD-DCA2728FE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8975C-E26F-C8FF-7ADB-2D3C12CB6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328B4-2D15-91C5-2685-6CA7D6DC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EF6ED-9202-BD49-B1C9-D08006FB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06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5A9A-61C3-E3F8-3629-E48112F1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8EDC1-A1DD-199B-9071-689E2FB92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67EF0-4F8F-5AB7-8477-2F362031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B5218-27D5-26DA-FCF9-E6CA9DA0C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02BF6-D86F-719C-8376-E34CCAE92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495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EBEAA-B373-E877-C7F5-BABA9BB66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4CF2A-9495-DDEA-2D2C-0FCCB03B2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E3231-2801-4F95-B1B2-18E7BB31E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A3FCE-C540-1877-643A-3AF6B5A3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B8D13-6282-7ABB-53B7-4AFFA396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49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960E-C0EA-79D2-C39B-134C197C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DE9DA-5E1C-8B7F-C134-44DAFF09E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BB74C-AE53-7393-B917-0C6846061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08C4B-2B6D-B32A-094B-EEEF3CBDD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A3C83-63FF-DD00-782D-8FE02EE1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91A27-1E11-A4C1-DE78-AE6DAD85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652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B026-5B63-9B2E-B99A-096675D7D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34552-1497-A3EB-5785-38A461592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93EC0-D6F1-71A7-9291-F4E1226FD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DEB2D3-F9FC-E883-C616-367342E6C7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2E0F85-5AFA-E8AA-8C8D-3D19812E0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A43FD-740C-1231-72A3-956B886A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B1644E-D1F5-4E89-A8BF-E330E69D2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8071B0-5881-3DCC-79E2-BC31851B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992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01A2-A232-CF4D-9F4C-9AA22FB2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90EE1-4181-DC1F-9CB4-7DF30429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58870-0265-3100-F6F8-F43638A1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F3038-9615-D09D-A6A1-C0E17132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23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A79A9-DCD3-24E0-4B12-A738D255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E077F-9500-DFBE-5992-DA7343E9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4F53-A848-9A5B-7877-21562CB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E970D-96BC-5E7E-3F42-9DA82D34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504F-9E0B-97BF-483B-028601699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AAE5F-7649-E8A3-3326-B654115FD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724BA-1755-44AF-FF69-CDA437C3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46C1F-7F69-E36F-801A-74CC0BD4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3CA4A-3D2D-FB3A-C99B-28EA7E4B2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86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2388-E2A0-5121-663C-7520FEAC8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19DE1-85B2-68DA-7E6E-F66F081F9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96E74-BAFE-6FC2-DAA8-D068EAED9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DEE94-712D-FC3D-2F4C-34540FBF8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AFC94-FC00-DCE9-2C78-D73C3ECD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DFE1-9B65-B4EF-2D95-8C0B182C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136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F655-2FC4-A602-8CE6-AAAE4247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78296-3617-CB14-6BB8-4ECCE383E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5039D-D4B7-78C5-015C-7EB1BA22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7670E-D622-AA2F-F171-81B5723AE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FB3B9-4910-1B14-C464-BAD4C342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2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1D354-761D-A4B8-34B9-56A645403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F9856-2770-13A6-B3DE-722092E7B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418EF-A5E6-487D-2D8A-7A46881D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93682-6684-F1E1-E0B0-74A8C69F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AEE80-6B0E-D11D-531A-C67E0950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983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B59AC0-ACCA-0548-A037-BC61068B8FE2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latin typeface="+mn-lt"/>
              <a:ea typeface="Meiryo" panose="020B0604030504040204" pitchFamily="34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AAAAF7-05B9-4CD1-AB96-49BDA5C8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247" y="6356350"/>
            <a:ext cx="751415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3163FE-7A47-48F5-985E-52E1FC39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1711" y="6356349"/>
            <a:ext cx="532140" cy="365125"/>
          </a:xfrm>
        </p:spPr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DE5BD82-54F0-40F0-8673-34432C04A3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86" y="1470025"/>
            <a:ext cx="10904865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38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7097AA-9EBE-8094-14C3-D0425D9D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604FA-8CE4-4118-CEAB-5815BA2B3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DC841-45D8-8DAF-8CFC-457822A38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F6ACD-1771-4DC3-907F-84F8240B60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611C6-339F-2D0A-409F-9A2174F6C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D819F-BEEE-735E-D804-9544CD289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6C4A7-ACAD-4493-8FA3-2997C43D1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76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E4DD9-B5F4-9789-93DD-107C9CC1E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P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roject</a:t>
            </a:r>
            <a:b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Debit and credit analysis</a:t>
            </a:r>
            <a:b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6939D-237B-755A-5BEA-DCE5AA4DB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Group 06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Team members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Syed Sohaib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Shreyash Gawankar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Mathew R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2000" b="1" dirty="0" err="1"/>
              <a:t>Pulivarthi</a:t>
            </a:r>
            <a:r>
              <a:rPr lang="en-US" sz="2000" b="1" dirty="0"/>
              <a:t> </a:t>
            </a:r>
            <a:r>
              <a:rPr lang="en-US" sz="2000" b="1" dirty="0" err="1"/>
              <a:t>srikanth</a:t>
            </a:r>
            <a:endParaRPr lang="en-US" sz="2000" b="1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297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064C-0C77-40EF-B78A-227F2C923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686104-504F-4D1D-AB05-6814F75AB1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 To unify the datasets (Credit, Debit, Loan) and transform raw data into actionable insights through dynamic, interactive dashboards for key stakeholders.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Scope of Work:</a:t>
            </a:r>
            <a:endParaRPr lang="en-US" dirty="0"/>
          </a:p>
          <a:p>
            <a:pPr lvl="1"/>
            <a:r>
              <a:rPr lang="en-US" dirty="0"/>
              <a:t>Data Consolidation and Cleaning.</a:t>
            </a:r>
          </a:p>
          <a:p>
            <a:pPr lvl="1"/>
            <a:r>
              <a:rPr lang="en-US" dirty="0"/>
              <a:t>SQL-based KPI Calculation and Data Modeling.</a:t>
            </a:r>
          </a:p>
          <a:p>
            <a:pPr lvl="1"/>
            <a:r>
              <a:rPr lang="en-US" dirty="0"/>
              <a:t>Development of </a:t>
            </a:r>
            <a:r>
              <a:rPr lang="en-US" b="1" dirty="0"/>
              <a:t>6 Dashboards</a:t>
            </a:r>
            <a:r>
              <a:rPr lang="en-US" dirty="0"/>
              <a:t> (2 each in Excel, Power BI, and Tableau).</a:t>
            </a:r>
          </a:p>
          <a:p>
            <a:pPr lvl="1"/>
            <a:r>
              <a:rPr lang="en-US" dirty="0"/>
              <a:t>Analysis of </a:t>
            </a:r>
            <a:r>
              <a:rPr lang="en-US" b="1" dirty="0"/>
              <a:t>Risk, Performance, and Customer Behavior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63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B338B5-4E0E-876D-B6B2-4AE87753C0A3}"/>
              </a:ext>
            </a:extLst>
          </p:cNvPr>
          <p:cNvSpPr txBox="1"/>
          <p:nvPr/>
        </p:nvSpPr>
        <p:spPr>
          <a:xfrm>
            <a:off x="2727755" y="242334"/>
            <a:ext cx="609805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Bank Debit and Credit Dashboard KPI Description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C94146-E46C-8760-9F23-23992AF5D47C}"/>
              </a:ext>
            </a:extLst>
          </p:cNvPr>
          <p:cNvSpPr txBox="1"/>
          <p:nvPr/>
        </p:nvSpPr>
        <p:spPr>
          <a:xfrm>
            <a:off x="383060" y="-97038"/>
            <a:ext cx="1115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Bank debit and credit dashboard KPI 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11B659-E9AC-96E2-5DDE-CB4CADAEECF9}"/>
              </a:ext>
            </a:extLst>
          </p:cNvPr>
          <p:cNvSpPr txBox="1"/>
          <p:nvPr/>
        </p:nvSpPr>
        <p:spPr>
          <a:xfrm>
            <a:off x="234777" y="733141"/>
            <a:ext cx="885979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1-Total Credit Amount: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2-Total Debit Amount: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3-Credit to Debit Ratio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4-Net Transaction Amount: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5-Account Activity Ratio: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6-Transactions per Day/Week/Month: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7-Total Transaction Amount by Branch: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8-Transaction Volume by Bank: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9-Transaction Method Distribution: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11-High-Risk Transaction Flag: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12-Suspicious Transaction Frequency: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8358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line of orange and blue lines&#10;&#10;AI-generated content may be incorrect.">
            <a:extLst>
              <a:ext uri="{FF2B5EF4-FFF2-40B4-BE49-F238E27FC236}">
                <a16:creationId xmlns:a16="http://schemas.microsoft.com/office/drawing/2014/main" id="{5E1B94D6-D24D-3704-953D-1A93291E4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80010"/>
            <a:ext cx="3931919" cy="249174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1AE479D7-AB58-DF4F-5D36-35883641F4EC}"/>
              </a:ext>
            </a:extLst>
          </p:cNvPr>
          <p:cNvSpPr/>
          <p:nvPr/>
        </p:nvSpPr>
        <p:spPr>
          <a:xfrm>
            <a:off x="4114799" y="1303020"/>
            <a:ext cx="628651" cy="114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8EEABB76-2703-AD38-7A86-877DAFCD6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" y="2640330"/>
            <a:ext cx="3931919" cy="42176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518F63-BD5B-67F3-6282-AEA226F5B5DE}"/>
              </a:ext>
            </a:extLst>
          </p:cNvPr>
          <p:cNvSpPr txBox="1"/>
          <p:nvPr/>
        </p:nvSpPr>
        <p:spPr>
          <a:xfrm>
            <a:off x="4429124" y="3429000"/>
            <a:ext cx="756475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1.This visualization highlights the top 10 customers by transaction value, illustrating who are the most important contributors to total transaction volume.</a:t>
            </a:r>
          </a:p>
          <a:p>
            <a:r>
              <a:rPr lang="en-GB" sz="2400" dirty="0">
                <a:solidFill>
                  <a:srgbClr val="0070C0"/>
                </a:solidFill>
              </a:rPr>
              <a:t>2.The horizontal bar chart format ensures clear, straightforward comparison between different customers.</a:t>
            </a:r>
          </a:p>
          <a:p>
            <a:r>
              <a:rPr lang="en-GB" sz="2400" dirty="0">
                <a:solidFill>
                  <a:srgbClr val="0070C0"/>
                </a:solidFill>
              </a:rPr>
              <a:t>3.Each customer is uniquely identified by their customer ID, and the transaction value is displayed at the end of each bar for easy reference.</a:t>
            </a:r>
          </a:p>
          <a:p>
            <a:endParaRPr lang="en-IN" sz="2400" dirty="0">
              <a:solidFill>
                <a:srgbClr val="0070C0"/>
              </a:solidFill>
            </a:endParaRPr>
          </a:p>
        </p:txBody>
      </p:sp>
      <p:graphicFrame>
        <p:nvGraphicFramePr>
          <p:cNvPr id="19" name="TextBox 13">
            <a:extLst>
              <a:ext uri="{FF2B5EF4-FFF2-40B4-BE49-F238E27FC236}">
                <a16:creationId xmlns:a16="http://schemas.microsoft.com/office/drawing/2014/main" id="{7A91D079-71DD-69C9-795A-9A9677C64FA3}"/>
              </a:ext>
            </a:extLst>
          </p:cNvPr>
          <p:cNvGraphicFramePr/>
          <p:nvPr/>
        </p:nvGraphicFramePr>
        <p:xfrm>
          <a:off x="4413883" y="171718"/>
          <a:ext cx="7265670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61804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3B03AA-8A4E-A47E-70E2-1B7CAF7E5BA9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Excel dashboard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3031560B-6954-D357-33D6-AF51EEFB6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" y="1574310"/>
            <a:ext cx="12070079" cy="512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0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9FA8-8625-E5A3-B67E-69BB3EEA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69A5BA6-47DC-4735-7159-DA07CB48C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 (Credit and Debit)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B8B76D-9BCA-94CA-49E8-D26ECCE4E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4" r="6249" b="1710"/>
          <a:stretch>
            <a:fillRect/>
          </a:stretch>
        </p:blipFill>
        <p:spPr>
          <a:xfrm>
            <a:off x="400050" y="1481356"/>
            <a:ext cx="11410950" cy="506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0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A9EB9-5C94-6D32-BDD6-4EBAC4331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FE0C44-B569-4194-A88D-4EF8C8F4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Dashboard (Credit and Debit)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70EFF5-B9E9-A312-5DE1-19CDEDA58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4" y="1439824"/>
            <a:ext cx="11420475" cy="493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46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409D89-A64F-0D99-1E39-D4423994CDB1}"/>
              </a:ext>
            </a:extLst>
          </p:cNvPr>
          <p:cNvSpPr txBox="1"/>
          <p:nvPr/>
        </p:nvSpPr>
        <p:spPr>
          <a:xfrm>
            <a:off x="2846070" y="80010"/>
            <a:ext cx="5886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SQL QUERYS</a:t>
            </a:r>
          </a:p>
          <a:p>
            <a:pPr algn="ctr"/>
            <a:endParaRPr lang="en-IN" sz="2800" dirty="0">
              <a:solidFill>
                <a:srgbClr val="FF0000"/>
              </a:solidFill>
            </a:endParaRPr>
          </a:p>
        </p:txBody>
      </p:sp>
      <p:pic>
        <p:nvPicPr>
          <p:cNvPr id="7" name="Picture 6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2B2F25E8-5D68-1FB4-E5FD-CBB26DB26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98" y="676162"/>
            <a:ext cx="4067743" cy="16194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71A233-C867-065B-786E-73AED19A4F70}"/>
              </a:ext>
            </a:extLst>
          </p:cNvPr>
          <p:cNvSpPr txBox="1"/>
          <p:nvPr/>
        </p:nvSpPr>
        <p:spPr>
          <a:xfrm>
            <a:off x="4846320" y="780753"/>
            <a:ext cx="67779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400" dirty="0">
                <a:solidFill>
                  <a:schemeClr val="accent2"/>
                </a:solidFill>
              </a:rPr>
              <a:t>This QUERY is total debit amount sum of total amount and in transaction type where only Debit</a:t>
            </a:r>
            <a:endParaRPr lang="en-GB" sz="2400" dirty="0">
              <a:solidFill>
                <a:schemeClr val="accent2"/>
              </a:solidFill>
              <a:effectLst/>
            </a:endParaRPr>
          </a:p>
          <a:p>
            <a:endParaRPr lang="en-IN" dirty="0"/>
          </a:p>
        </p:txBody>
      </p:sp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2229614-6AF5-2CEF-BDEC-7C46CD946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8" y="2368383"/>
            <a:ext cx="5546829" cy="23366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90388B-2EC0-3141-7436-05E93FC66874}"/>
              </a:ext>
            </a:extLst>
          </p:cNvPr>
          <p:cNvSpPr txBox="1"/>
          <p:nvPr/>
        </p:nvSpPr>
        <p:spPr>
          <a:xfrm>
            <a:off x="5619484" y="2441128"/>
            <a:ext cx="60947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 of the Amount column grouped by Bank Name. compare the performance of different banks in terms of transaction activity.</a:t>
            </a:r>
          </a:p>
          <a:p>
            <a:endParaRPr lang="en-IN" sz="2400" dirty="0">
              <a:solidFill>
                <a:schemeClr val="accent2"/>
              </a:solidFill>
            </a:endParaRP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F9953F-C143-5589-B7CA-A82EF96F8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8" y="4777740"/>
            <a:ext cx="5209834" cy="19433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5E2A865-D342-B202-7D5B-9878EC642CD3}"/>
              </a:ext>
            </a:extLst>
          </p:cNvPr>
          <p:cNvSpPr txBox="1"/>
          <p:nvPr/>
        </p:nvSpPr>
        <p:spPr>
          <a:xfrm>
            <a:off x="5523470" y="4188941"/>
            <a:ext cx="59683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1.helping to compare branch performance.</a:t>
            </a:r>
          </a:p>
          <a:p>
            <a:r>
              <a:rPr lang="en-US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</a:t>
            </a:r>
          </a:p>
          <a:p>
            <a:r>
              <a:rPr lang="en-US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Sum all branch wise amount it is easy to identify all branch wise performance and we can find highest and lowest performing branches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789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390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Project Debit and credit analysis </vt:lpstr>
      <vt:lpstr>Overview</vt:lpstr>
      <vt:lpstr>PowerPoint Presentation</vt:lpstr>
      <vt:lpstr>PowerPoint Presentation</vt:lpstr>
      <vt:lpstr>PowerPoint Presentation</vt:lpstr>
      <vt:lpstr>Power BI Dashboard (Credit and Debit)</vt:lpstr>
      <vt:lpstr>Tableau Dashboard (Credit and Debit)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PULIVARTHI</dc:creator>
  <cp:lastModifiedBy>Shreyash Gawankar</cp:lastModifiedBy>
  <cp:revision>4</cp:revision>
  <dcterms:created xsi:type="dcterms:W3CDTF">2025-11-02T06:07:36Z</dcterms:created>
  <dcterms:modified xsi:type="dcterms:W3CDTF">2025-11-03T04:34:29Z</dcterms:modified>
</cp:coreProperties>
</file>